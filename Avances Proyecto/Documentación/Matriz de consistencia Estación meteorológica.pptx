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1C773A-3B71-CB68-FC49-3DCCF76C3D2C}" v="372" dt="2026-06-17T16:06:26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6" d="100"/>
          <a:sy n="106" d="100"/>
        </p:scale>
        <p:origin x="-126" y="-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1/7/2026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7704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1/7/2026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0808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1/7/2026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13783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1/7/2026</a:t>
            </a:fld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4418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1/7/2026</a:t>
            </a:fld>
            <a:endParaRPr lang="es-419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88754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1/7/2026</a:t>
            </a:fld>
            <a:endParaRPr lang="es-419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7709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1/7/2026</a:t>
            </a:fld>
            <a:endParaRPr lang="es-419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8553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1/7/2026</a:t>
            </a:fld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84083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1/7/2026</a:t>
            </a:fld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3136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1/7/2026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16780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1/7/2026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39888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D7D45-6FAC-4375-9C5A-1D3683357009}" type="datetimeFigureOut">
              <a:rPr lang="es-419" smtClean="0"/>
              <a:t>1/7/2026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01738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cthub.arduino.cc/lucasfernando/soil-moisture-sensor-comple-guide-b9c82b" TargetMode="External"/><Relationship Id="rId2" Type="http://schemas.openxmlformats.org/officeDocument/2006/relationships/hyperlink" Target="https://learn.adafruit.com/dht/overview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8798939"/>
              </p:ext>
            </p:extLst>
          </p:nvPr>
        </p:nvGraphicFramePr>
        <p:xfrm>
          <a:off x="268015" y="1356193"/>
          <a:ext cx="11449369" cy="540567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794345">
                  <a:extLst>
                    <a:ext uri="{9D8B030D-6E8A-4147-A177-3AD203B41FA5}">
                      <a16:colId xmlns:a16="http://schemas.microsoft.com/office/drawing/2014/main" val="3478840334"/>
                    </a:ext>
                  </a:extLst>
                </a:gridCol>
                <a:gridCol w="1944161">
                  <a:extLst>
                    <a:ext uri="{9D8B030D-6E8A-4147-A177-3AD203B41FA5}">
                      <a16:colId xmlns:a16="http://schemas.microsoft.com/office/drawing/2014/main" val="3113570849"/>
                    </a:ext>
                  </a:extLst>
                </a:gridCol>
                <a:gridCol w="2206884">
                  <a:extLst>
                    <a:ext uri="{9D8B030D-6E8A-4147-A177-3AD203B41FA5}">
                      <a16:colId xmlns:a16="http://schemas.microsoft.com/office/drawing/2014/main" val="4097673580"/>
                    </a:ext>
                  </a:extLst>
                </a:gridCol>
                <a:gridCol w="1694572">
                  <a:extLst>
                    <a:ext uri="{9D8B030D-6E8A-4147-A177-3AD203B41FA5}">
                      <a16:colId xmlns:a16="http://schemas.microsoft.com/office/drawing/2014/main" val="3207510499"/>
                    </a:ext>
                  </a:extLst>
                </a:gridCol>
                <a:gridCol w="1694572">
                  <a:extLst>
                    <a:ext uri="{9D8B030D-6E8A-4147-A177-3AD203B41FA5}">
                      <a16:colId xmlns:a16="http://schemas.microsoft.com/office/drawing/2014/main" val="1830184591"/>
                    </a:ext>
                  </a:extLst>
                </a:gridCol>
                <a:gridCol w="2114835">
                  <a:extLst>
                    <a:ext uri="{9D8B030D-6E8A-4147-A177-3AD203B41FA5}">
                      <a16:colId xmlns:a16="http://schemas.microsoft.com/office/drawing/2014/main" val="1227945698"/>
                    </a:ext>
                  </a:extLst>
                </a:gridCol>
              </a:tblGrid>
              <a:tr h="331167"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latin typeface="Calibri"/>
                        </a:rPr>
                        <a:t>Tema</a:t>
                      </a:r>
                    </a:p>
                  </a:txBody>
                  <a:tcPr>
                    <a:lnB w="381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Calibri"/>
                        </a:rPr>
                        <a:t>Problemas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Calibri"/>
                        </a:rPr>
                        <a:t>Objetivos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Calibri"/>
                        </a:rPr>
                        <a:t>Hipótesis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Calibri"/>
                        </a:rPr>
                        <a:t>Sustentos teóricos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Calibri"/>
                        </a:rPr>
                        <a:t>Metodología de investigación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370530"/>
                  </a:ext>
                </a:extLst>
              </a:tr>
              <a:tr h="244740">
                <a:tc rowSpan="2">
                  <a:txBody>
                    <a:bodyPr/>
                    <a:lstStyle/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Estación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meteorológica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solar con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activación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automática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aspersores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para 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huerto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escolar y 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Ecotini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E</a:t>
                      </a:r>
                      <a:r>
                        <a:rPr lang="es-MX"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comundo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Babahoyo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Problema general</a:t>
                      </a: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Objetivo general</a:t>
                      </a:r>
                    </a:p>
                  </a:txBody>
                  <a:tcPr/>
                </a:tc>
                <a:tc rowSpan="10">
                  <a:txBody>
                    <a:bodyPr/>
                    <a:lstStyle/>
                    <a:p>
                      <a:pPr algn="l"/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Hipótesis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general</a:t>
                      </a:r>
                    </a:p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activará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aspersores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cuando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humedad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suelo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debajo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del umbral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definido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favoreciendo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un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riego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más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oportuno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medible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endParaRPr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Hipótesis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específicas</a:t>
                      </a:r>
                      <a:endParaRPr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La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humedad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suelo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será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indicador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principal para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activar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riego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La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fuente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solar de baja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potencia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podrá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alimentar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circuito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medición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pantalla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La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escala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dos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áreas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hará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viable 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prototipo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para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proyecto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1: Monitoreo ambiental automatizado</a:t>
                      </a:r>
                    </a:p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Subtemas:</a:t>
                      </a:r>
                    </a:p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Temperatura ambiental.</a:t>
                      </a:r>
                    </a:p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Humedad ambiental.</a:t>
                      </a:r>
                    </a:p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Luminosidad.</a:t>
                      </a:r>
                    </a:p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Humedad del suelo.</a:t>
                      </a:r>
                    </a:p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Microcontrolador y pantalla.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Posibles técnicas e instrumentos</a:t>
                      </a:r>
                    </a:p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Técnicas:</a:t>
                      </a:r>
                    </a:p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Medición con sensores.</a:t>
                      </a:r>
                    </a:p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Observación técnica.</a:t>
                      </a:r>
                    </a:p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Pruebas funcionales.</a:t>
                      </a:r>
                    </a:p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Registro de datos.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035521"/>
                  </a:ext>
                </a:extLst>
              </a:tr>
              <a:tr h="1321980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800" dirty="0"/>
                        <a:t>En el huerto escolar y el </a:t>
                      </a:r>
                      <a:r>
                        <a:rPr lang="es-EC" sz="800" dirty="0" err="1"/>
                        <a:t>Ecotini</a:t>
                      </a:r>
                      <a:r>
                        <a:rPr lang="es-EC" sz="800" dirty="0"/>
                        <a:t> de </a:t>
                      </a:r>
                      <a:r>
                        <a:rPr lang="es-EC" sz="800" dirty="0" err="1"/>
                        <a:t>Ecomundo</a:t>
                      </a:r>
                      <a:r>
                        <a:rPr lang="es-EC" sz="800" dirty="0"/>
                        <a:t> Babahoyo, el riego de las áreas verdes puede realizarse de forma manual sin datos objetivos sobre la humedad real del suelo, la temperatura ambiental, la humedad del aire y la intensidad de luz. Esto puede provocar riego insuficiente cuando las plantas necesitan agua o riego innecesario cuando el suelo aún conserva humedad.</a:t>
                      </a:r>
                      <a:endParaRPr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Diseñar dos estaciones meteorológicas solares con activación automática de aspersores para apoyar el riego controlado del huerto escolar y el Ecotini.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1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916873"/>
                  </a:ext>
                </a:extLst>
              </a:tr>
              <a:tr h="331167"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independiente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Problemas</a:t>
                      </a:r>
                      <a:r>
                        <a:rPr sz="6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específicos</a:t>
                      </a:r>
                      <a:endParaRPr sz="65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Objetivos específicos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1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Técnicas aplicadas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924386"/>
                  </a:ext>
                </a:extLst>
              </a:tr>
              <a:tr h="131513">
                <a:tc rowSpan="3">
                  <a:txBody>
                    <a:bodyPr/>
                    <a:lstStyle/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Sistema mecatrónico de monitoreo y control: ESP32/Arduino, sensores, pantalla, panel solar pequeño y módulo de activación.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riego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manual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puede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realizarse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sin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conocer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humedad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real del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suelo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s-MX"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endParaRPr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Medir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temperatura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humedad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ambiental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luminosidad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humedad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suelo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ambas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áreas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s-MX"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endParaRPr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Diseñar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un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active 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riego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cuando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humedad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suelo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debajo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del valor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establecido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1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Medición con sensores.</a:t>
                      </a:r>
                    </a:p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Observación técnica.</a:t>
                      </a:r>
                    </a:p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Pruebas funcionales.</a:t>
                      </a:r>
                    </a:p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 de datos.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218718"/>
                  </a:ext>
                </a:extLst>
              </a:tr>
              <a:tr h="5960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2: Riego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automatizado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aspersión</a:t>
                      </a:r>
                      <a:endParaRPr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Subtemas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Umbral de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humedad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Electroválvula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relé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Aspersores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bajo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alcance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Tiempo de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activación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l"/>
                      <a:endParaRPr lang="es-MX"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endParaRPr lang="es-EC"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endParaRPr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3: Energía solar de baja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potencia</a:t>
                      </a:r>
                      <a:endParaRPr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Subtemas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Panel solar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pequeño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Batería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 power bank.</a:t>
                      </a:r>
                    </a:p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Consumo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circuito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Pantalla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autonomía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0187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existe un registro simple de temperatura, luz y humedad del suelo para decidir el riego.</a:t>
                      </a:r>
                    </a:p>
                    <a:p>
                      <a:pPr algn="l"/>
                      <a:endParaRPr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</a:tcPr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Implementar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fuente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solar de baja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potencia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para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alimentar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circuito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medición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visualización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s-MX"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endParaRPr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Conectar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cada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estación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 uno o dos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aspersores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área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1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629281"/>
                  </a:ext>
                </a:extLst>
              </a:tr>
              <a:tr h="296839">
                <a:tc rowSpan="2">
                  <a:txBody>
                    <a:bodyPr/>
                    <a:lstStyle/>
                    <a:p>
                      <a:pPr algn="ctr"/>
                      <a:r>
                        <a:rPr sz="6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</a:t>
                      </a:r>
                      <a:r>
                        <a:rPr sz="65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dependiente</a:t>
                      </a:r>
                      <a:endParaRPr sz="65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Instrumentos: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116652"/>
                  </a:ext>
                </a:extLst>
              </a:tr>
              <a:tr h="1149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sz="65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ESP32/Arduino, sensor DHT22 o SHT31, sensor de humedad del suelo, LDR o BH1750, pantalla, relé, electroválvula, aspersores, ficha de ensayo y hoja de cálculo.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05952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/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Activación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correcta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riego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variación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humedad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suelo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después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la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aspersión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estabilidad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lectura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l"/>
                      <a:endParaRPr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Variables de control: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área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riego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número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aspersores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ubicación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del sensor,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suelo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horario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tiempo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activación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993486"/>
                  </a:ext>
                </a:extLst>
              </a:tr>
              <a:tr h="879357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huerto escolar y el </a:t>
                      </a:r>
                      <a:r>
                        <a:rPr lang="es-MX"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Ecotini</a:t>
                      </a:r>
                      <a:r>
                        <a:rPr lang="es-MX"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pueden aprovecharse mejor si generan datos ambientales útiles para proyectos escolares de medición.</a:t>
                      </a: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Mostrar los datos principales en una pantalla integrada.</a:t>
                      </a:r>
                    </a:p>
                    <a:p>
                      <a:pPr algn="l"/>
                      <a:endParaRPr lang="es-MX"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lang="es-MX"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Registrar los datos ambientales para apoyar proyectos escolares de medición y cuidado de plantas.</a:t>
                      </a:r>
                    </a:p>
                    <a:p>
                      <a:pPr algn="l"/>
                      <a:endParaRPr lang="es-MX" sz="6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Evaluar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funcionamiento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según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activación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correcta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aspersores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 la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variación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humedad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del </a:t>
                      </a:r>
                      <a:r>
                        <a:rPr sz="65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suelo</a:t>
                      </a:r>
                      <a:r>
                        <a:rPr sz="6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1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868311"/>
                  </a:ext>
                </a:extLst>
              </a:tr>
              <a:tr h="879357">
                <a:tc>
                  <a:txBody>
                    <a:bodyPr/>
                    <a:lstStyle/>
                    <a:p>
                      <a:pPr algn="l"/>
                      <a:r>
                        <a:rPr sz="65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Posibles</a:t>
                      </a:r>
                      <a:r>
                        <a:rPr sz="6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5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fuentes</a:t>
                      </a:r>
                      <a:r>
                        <a:rPr sz="6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sz="65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información</a:t>
                      </a:r>
                      <a:r>
                        <a:rPr sz="6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l"/>
                      <a:r>
                        <a:rPr sz="65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2"/>
                        </a:rPr>
                        <a:t>Adafruit: DHT11/DHT22 sensor guide — https://learn.adafruit.com/dht/overview</a:t>
                      </a:r>
                    </a:p>
                    <a:p>
                      <a:pPr algn="l"/>
                      <a:r>
                        <a:rPr sz="65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Arduino Project Hub: Soil Moisture Sensor Guide — https://projecthub.arduino.cc/lucasfernando/soil-moisture-sensor-comple-guide-b9c82b</a:t>
                      </a:r>
                      <a:endParaRPr lang="es-MX" sz="650" dirty="0">
                        <a:latin typeface="Arial" panose="020B0604020202020204" pitchFamily="34" charset="0"/>
                        <a:cs typeface="Arial" panose="020B0604020202020204" pitchFamily="34" charset="0"/>
                        <a:hlinkClick r:id="rId3"/>
                      </a:endParaRPr>
                    </a:p>
                    <a:p>
                      <a:pPr algn="l"/>
                      <a:r>
                        <a:rPr lang="es-EC" sz="65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https://randomnerdtutorials.com/power-esp32-esp8266-solar-panels-battery-level-monitoring/?utm_source=chatgpt.com</a:t>
                      </a:r>
                    </a:p>
                    <a:p>
                      <a:pPr algn="l"/>
                      <a:r>
                        <a:rPr lang="es-EC" sz="65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https://bc-robotics.com/tutorials/controlling-a-solenoid-valve-with-arduino/</a:t>
                      </a:r>
                    </a:p>
                    <a:p>
                      <a:pPr algn="l"/>
                      <a:r>
                        <a:rPr lang="es-EC" sz="650"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https://maker.pro/arduino/projects/make-diy-automatic-irrigation-system-arduino?utm_source=chatgpt.com</a:t>
                      </a:r>
                      <a:endParaRPr sz="650" dirty="0">
                        <a:latin typeface="Arial" panose="020B0604020202020204" pitchFamily="34" charset="0"/>
                        <a:cs typeface="Arial" panose="020B0604020202020204" pitchFamily="34" charset="0"/>
                        <a:hlinkClick r:id="rId3"/>
                      </a:endParaRPr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419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 sz="10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85750" lvl="0" indent="-285750">
                        <a:buFontTx/>
                        <a:buChar char="-"/>
                      </a:pPr>
                      <a:endParaRPr lang="es-MX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918596"/>
                  </a:ext>
                </a:extLst>
              </a:tr>
            </a:tbl>
          </a:graphicData>
        </a:graphic>
      </p:graphicFrame>
      <p:sp>
        <p:nvSpPr>
          <p:cNvPr id="5" name="CuadroTexto 4"/>
          <p:cNvSpPr txBox="1"/>
          <p:nvPr/>
        </p:nvSpPr>
        <p:spPr>
          <a:xfrm>
            <a:off x="2704011" y="287385"/>
            <a:ext cx="696250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2400" dirty="0"/>
              <a:t>Matriz de consistencia metodológica </a:t>
            </a:r>
            <a:endParaRPr lang="es-419" sz="2400" dirty="0"/>
          </a:p>
        </p:txBody>
      </p:sp>
      <p:sp>
        <p:nvSpPr>
          <p:cNvPr id="6" name="CuadroTexto 5"/>
          <p:cNvSpPr txBox="1"/>
          <p:nvPr/>
        </p:nvSpPr>
        <p:spPr>
          <a:xfrm>
            <a:off x="268015" y="709861"/>
            <a:ext cx="1163495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1200" dirty="0"/>
              <a:t>Una Matriz de Consistencia (MC): Es un cuadro horizontal, conformado por columnas y filas, que consiste en presentar y resumir en forma adecuada, panorámica y sucinta los elementos básicos del proyecto de investigación, para comprender y evaluar la coherencia y conexión lógica entre el problema, los objetivos, la hipótesis, las variables y metodología en la investigación a realizar. Esta es la primera parte, se añadirá más información de acuerdo al avance del artículo científico.</a:t>
            </a:r>
            <a:endParaRPr lang="es-419" sz="1100" dirty="0"/>
          </a:p>
        </p:txBody>
      </p:sp>
    </p:spTree>
    <p:extLst>
      <p:ext uri="{BB962C8B-B14F-4D97-AF65-F5344CB8AC3E}">
        <p14:creationId xmlns:p14="http://schemas.microsoft.com/office/powerpoint/2010/main" val="344406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a9adf4-9a1b-4240-81a0-63b7c14ff34a" xsi:nil="true"/>
    <lcf76f155ced4ddcb4097134ff3c332f xmlns="3fcda13f-2903-41b7-b192-baf7b356d0a8">
      <Terms xmlns="http://schemas.microsoft.com/office/infopath/2007/PartnerControls"/>
    </lcf76f155ced4ddcb4097134ff3c332f>
    <ReferenceId xmlns="3fcda13f-2903-41b7-b192-baf7b356d0a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21F483A63D5A4CBDDD0537FE39855C" ma:contentTypeVersion="12" ma:contentTypeDescription="Crear nuevo documento." ma:contentTypeScope="" ma:versionID="8bc530316e38bdb0116a29d76ba339ed">
  <xsd:schema xmlns:xsd="http://www.w3.org/2001/XMLSchema" xmlns:xs="http://www.w3.org/2001/XMLSchema" xmlns:p="http://schemas.microsoft.com/office/2006/metadata/properties" xmlns:ns2="3fcda13f-2903-41b7-b192-baf7b356d0a8" xmlns:ns3="17a9adf4-9a1b-4240-81a0-63b7c14ff34a" targetNamespace="http://schemas.microsoft.com/office/2006/metadata/properties" ma:root="true" ma:fieldsID="5292c3c555279397b9c86888dfda3f07" ns2:_="" ns3:_="">
    <xsd:import namespace="3fcda13f-2903-41b7-b192-baf7b356d0a8"/>
    <xsd:import namespace="17a9adf4-9a1b-4240-81a0-63b7c14ff34a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cda13f-2903-41b7-b192-baf7b356d0a8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lcf76f155ced4ddcb4097134ff3c332f" ma:index="10" nillable="true" ma:taxonomy="true" ma:internalName="lcf76f155ced4ddcb4097134ff3c332f" ma:taxonomyFieldName="MediaServiceImageTags" ma:displayName="Etiquetas de imagen" ma:readOnly="false" ma:fieldId="{5cf76f15-5ced-4ddc-b409-7134ff3c332f}" ma:taxonomyMulti="true" ma:sspId="cc15657f-a093-468e-8e7b-ed2f25f398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a9adf4-9a1b-4240-81a0-63b7c14ff34a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hidden="true" ma:list="{1dfcfe75-9357-462c-965f-c5d7f57cbbf4}" ma:internalName="TaxCatchAll" ma:showField="CatchAllData" ma:web="17a9adf4-9a1b-4240-81a0-63b7c14ff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06836B-6982-4B32-92E1-17B8EBE73CCB}">
  <ds:schemaRefs>
    <ds:schemaRef ds:uri="http://schemas.microsoft.com/office/2006/metadata/properties"/>
    <ds:schemaRef ds:uri="http://schemas.microsoft.com/office/infopath/2007/PartnerControls"/>
    <ds:schemaRef ds:uri="17a9adf4-9a1b-4240-81a0-63b7c14ff34a"/>
    <ds:schemaRef ds:uri="3fcda13f-2903-41b7-b192-baf7b356d0a8"/>
  </ds:schemaRefs>
</ds:datastoreItem>
</file>

<file path=customXml/itemProps2.xml><?xml version="1.0" encoding="utf-8"?>
<ds:datastoreItem xmlns:ds="http://schemas.openxmlformats.org/officeDocument/2006/customXml" ds:itemID="{3BE63E02-854B-46AC-9218-5DA83E9057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48ACD-9EEA-473C-838F-353F7095EF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cda13f-2903-41b7-b192-baf7b356d0a8"/>
    <ds:schemaRef ds:uri="17a9adf4-9a1b-4240-81a0-63b7c14ff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13818</TotalTime>
  <Words>777</Words>
  <Application>Microsoft Office PowerPoint</Application>
  <PresentationFormat>Panorámica</PresentationFormat>
  <Paragraphs>83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Jhonnie Classic</dc:creator>
  <cp:lastModifiedBy>Amilkar Suárez Morgado</cp:lastModifiedBy>
  <cp:revision>59</cp:revision>
  <dcterms:created xsi:type="dcterms:W3CDTF">2021-06-07T16:19:07Z</dcterms:created>
  <dcterms:modified xsi:type="dcterms:W3CDTF">2026-07-02T00:19:44Z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0x010100FF21F483A63D5A4CBDDD0537FE39855C</vt:lpwstr>
  </property>
</Properties>
</file>