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1C773A-3B71-CB68-FC49-3DCCF76C3D2C}" v="372" dt="2026-06-17T16:06:26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30/6/2026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7704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30/6/2026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0808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30/6/2026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13783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30/6/2026</a:t>
            </a:fld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4418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30/6/2026</a:t>
            </a:fld>
            <a:endParaRPr lang="es-419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8875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30/6/2026</a:t>
            </a:fld>
            <a:endParaRPr lang="es-419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7709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30/6/2026</a:t>
            </a:fld>
            <a:endParaRPr lang="es-419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8553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30/6/2026</a:t>
            </a:fld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8408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30/6/2026</a:t>
            </a:fld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3136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30/6/2026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16780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7D45-6FAC-4375-9C5A-1D3683357009}" type="datetimeFigureOut">
              <a:rPr lang="es-419" smtClean="0"/>
              <a:t>30/6/2026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39888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D7D45-6FAC-4375-9C5A-1D3683357009}" type="datetimeFigureOut">
              <a:rPr lang="es-419" smtClean="0"/>
              <a:t>30/6/2026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BD725-A977-474E-8EC2-90CA199746F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0173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5331105"/>
              </p:ext>
            </p:extLst>
          </p:nvPr>
        </p:nvGraphicFramePr>
        <p:xfrm>
          <a:off x="268015" y="1356193"/>
          <a:ext cx="11449369" cy="52693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794345">
                  <a:extLst>
                    <a:ext uri="{9D8B030D-6E8A-4147-A177-3AD203B41FA5}">
                      <a16:colId xmlns:a16="http://schemas.microsoft.com/office/drawing/2014/main" val="3478840334"/>
                    </a:ext>
                  </a:extLst>
                </a:gridCol>
                <a:gridCol w="1944161">
                  <a:extLst>
                    <a:ext uri="{9D8B030D-6E8A-4147-A177-3AD203B41FA5}">
                      <a16:colId xmlns:a16="http://schemas.microsoft.com/office/drawing/2014/main" val="3113570849"/>
                    </a:ext>
                  </a:extLst>
                </a:gridCol>
                <a:gridCol w="2206884">
                  <a:extLst>
                    <a:ext uri="{9D8B030D-6E8A-4147-A177-3AD203B41FA5}">
                      <a16:colId xmlns:a16="http://schemas.microsoft.com/office/drawing/2014/main" val="4097673580"/>
                    </a:ext>
                  </a:extLst>
                </a:gridCol>
                <a:gridCol w="1694572">
                  <a:extLst>
                    <a:ext uri="{9D8B030D-6E8A-4147-A177-3AD203B41FA5}">
                      <a16:colId xmlns:a16="http://schemas.microsoft.com/office/drawing/2014/main" val="3207510499"/>
                    </a:ext>
                  </a:extLst>
                </a:gridCol>
                <a:gridCol w="1694572">
                  <a:extLst>
                    <a:ext uri="{9D8B030D-6E8A-4147-A177-3AD203B41FA5}">
                      <a16:colId xmlns:a16="http://schemas.microsoft.com/office/drawing/2014/main" val="1830184591"/>
                    </a:ext>
                  </a:extLst>
                </a:gridCol>
                <a:gridCol w="2114835">
                  <a:extLst>
                    <a:ext uri="{9D8B030D-6E8A-4147-A177-3AD203B41FA5}">
                      <a16:colId xmlns:a16="http://schemas.microsoft.com/office/drawing/2014/main" val="1227945698"/>
                    </a:ext>
                  </a:extLst>
                </a:gridCol>
              </a:tblGrid>
              <a:tr h="331167">
                <a:tc>
                  <a:txBody>
                    <a:bodyPr/>
                    <a:lstStyle/>
                    <a:p>
                      <a:r>
                        <a:rPr lang="es-MX" sz="1000" dirty="0"/>
                        <a:t>Tema</a:t>
                      </a:r>
                      <a:endParaRPr lang="es-419" sz="1000" dirty="0"/>
                    </a:p>
                  </a:txBody>
                  <a:tcPr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Problemas</a:t>
                      </a:r>
                      <a:endParaRPr lang="es-419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Objetivos</a:t>
                      </a:r>
                      <a:endParaRPr lang="es-419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sz="1000" dirty="0"/>
                        <a:t>Hipótesis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sz="1000" dirty="0" smtClean="0"/>
                        <a:t>Sustentos teóricos</a:t>
                      </a:r>
                      <a:endParaRPr lang="es-419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sz="1000" dirty="0"/>
                        <a:t>Metodología de investigación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370530"/>
                  </a:ext>
                </a:extLst>
              </a:tr>
              <a:tr h="244740">
                <a:tc rowSpan="2">
                  <a:txBody>
                    <a:bodyPr/>
                    <a:lstStyle/>
                    <a:p>
                      <a:pPr algn="ctr"/>
                      <a:r>
                        <a:rPr lang="es-419" sz="1000" b="1" dirty="0"/>
                        <a:t>Nuevas narrativas híbridas como género periodístico en plataformas digitales.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000" b="1" dirty="0"/>
                        <a:t>Problema general</a:t>
                      </a:r>
                      <a:endParaRPr lang="es-419" sz="1000" b="1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s-MX" sz="1000" b="1" dirty="0"/>
                        <a:t>Objetivos generales</a:t>
                      </a:r>
                      <a:endParaRPr lang="es-419" sz="1000" b="1" dirty="0"/>
                    </a:p>
                  </a:txBody>
                  <a:tcPr/>
                </a:tc>
                <a:tc rowSpan="10">
                  <a:txBody>
                    <a:bodyPr/>
                    <a:lstStyle/>
                    <a:p>
                      <a:endParaRPr lang="es-419" sz="1000" b="1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lang="es-419" sz="1000" b="1" dirty="0" smtClean="0"/>
                        <a:t>Variable 1</a:t>
                      </a:r>
                    </a:p>
                    <a:p>
                      <a:r>
                        <a:rPr lang="es-419" sz="1000" b="1" dirty="0" smtClean="0"/>
                        <a:t>(Añadir</a:t>
                      </a:r>
                      <a:r>
                        <a:rPr lang="es-419" sz="1000" b="1" baseline="0" dirty="0" smtClean="0"/>
                        <a:t> tres subtemas de cada variable de su tema)</a:t>
                      </a:r>
                    </a:p>
                    <a:p>
                      <a:endParaRPr lang="es-419" sz="1000" b="1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s-419" sz="1000" b="1" dirty="0"/>
                        <a:t>Posibles técnicas a aplicar e instrumentos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035521"/>
                  </a:ext>
                </a:extLst>
              </a:tr>
              <a:tr h="132198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¿Cuáles</a:t>
                      </a:r>
                      <a:r>
                        <a:rPr lang="es-MX" sz="1000" baseline="0" dirty="0"/>
                        <a:t> son la nuevas narrativas que se están plasmando como un genero periodístico en las plataformas digitales?</a:t>
                      </a:r>
                      <a:endParaRPr lang="es-419" sz="1000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Identificar </a:t>
                      </a:r>
                      <a:r>
                        <a:rPr lang="es-419" sz="1000" dirty="0"/>
                        <a:t>la nuevas narrativas que se están plasmando como un genero periodístico en las plataformas digitales.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916873"/>
                  </a:ext>
                </a:extLst>
              </a:tr>
              <a:tr h="331167">
                <a:tc>
                  <a:txBody>
                    <a:bodyPr/>
                    <a:lstStyle/>
                    <a:p>
                      <a:pPr algn="ctr"/>
                      <a:r>
                        <a:rPr lang="es-419" sz="1000" b="1" dirty="0"/>
                        <a:t>Variable</a:t>
                      </a:r>
                      <a:r>
                        <a:rPr lang="es-419" sz="1000" b="1" baseline="0" dirty="0"/>
                        <a:t> 1</a:t>
                      </a:r>
                      <a:endParaRPr lang="es-419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419" sz="1000" b="1" dirty="0"/>
                        <a:t>Problemas específicos (opcional)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s-MX" sz="1000" b="1" dirty="0"/>
                        <a:t>Objetivos específicos</a:t>
                      </a:r>
                      <a:endParaRPr lang="es-419" sz="10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1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sz="1000" b="1" dirty="0"/>
                        <a:t>Técnicas aplicadas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924386"/>
                  </a:ext>
                </a:extLst>
              </a:tr>
              <a:tr h="131513">
                <a:tc rowSpan="3">
                  <a:txBody>
                    <a:bodyPr/>
                    <a:lstStyle/>
                    <a:p>
                      <a:endParaRPr lang="es-419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endParaRPr lang="es-419" sz="1000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tc rowSpan="2">
                  <a:txBody>
                    <a:bodyPr/>
                    <a:lstStyle/>
                    <a:p>
                      <a:r>
                        <a:rPr lang="es-MX" sz="1000" dirty="0"/>
                        <a:t>1. Analizar la diferencia entre los géneros periodísticos que ya están establecidos y las nuevas narrativas</a:t>
                      </a:r>
                      <a:endParaRPr lang="es-419" sz="1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MX" sz="1000" baseline="0" dirty="0"/>
                        <a:t>Entrevista</a:t>
                      </a:r>
                    </a:p>
                    <a:p>
                      <a:pPr marL="285750" lvl="0" indent="-285750">
                        <a:buFontTx/>
                        <a:buChar char="-"/>
                      </a:pPr>
                      <a:r>
                        <a:rPr lang="es-MX" sz="1000" baseline="0" dirty="0"/>
                        <a:t>Encuestas</a:t>
                      </a:r>
                    </a:p>
                    <a:p>
                      <a:pPr marL="285750" lvl="0" indent="-285750">
                        <a:buFontTx/>
                        <a:buChar char="-"/>
                      </a:pPr>
                      <a:r>
                        <a:rPr lang="es-MX" sz="1000" baseline="0" dirty="0"/>
                        <a:t>Ficha de observación</a:t>
                      </a:r>
                    </a:p>
                    <a:p>
                      <a:pPr marL="285750" lvl="0" indent="-285750">
                        <a:buFontTx/>
                        <a:buChar char="-"/>
                      </a:pPr>
                      <a:r>
                        <a:rPr lang="es-MX" sz="1000" baseline="0" dirty="0" err="1"/>
                        <a:t>Analisis</a:t>
                      </a:r>
                      <a:r>
                        <a:rPr lang="es-MX" sz="1000" baseline="0" dirty="0"/>
                        <a:t> documental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218718"/>
                  </a:ext>
                </a:extLst>
              </a:tr>
              <a:tr h="5960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r>
                        <a:rPr lang="es-419" sz="1000" b="1" dirty="0" smtClean="0"/>
                        <a:t>Variable 2</a:t>
                      </a:r>
                      <a:endParaRPr lang="es-419" sz="10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0187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endParaRPr lang="es-419" sz="1000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tc rowSpan="4">
                  <a:txBody>
                    <a:bodyPr/>
                    <a:lstStyle/>
                    <a:p>
                      <a:r>
                        <a:rPr lang="es-MX" sz="1000" dirty="0"/>
                        <a:t>2. Conocer las propuestas que presentan</a:t>
                      </a:r>
                      <a:r>
                        <a:rPr lang="es-MX" sz="1000" baseline="0" dirty="0"/>
                        <a:t> las nuevas narrativas híbridas utilizadas por los periodistas </a:t>
                      </a:r>
                      <a:endParaRPr lang="es-419" sz="1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629281"/>
                  </a:ext>
                </a:extLst>
              </a:tr>
              <a:tr h="296839">
                <a:tc rowSpan="2">
                  <a:txBody>
                    <a:bodyPr/>
                    <a:lstStyle/>
                    <a:p>
                      <a:pPr algn="ctr"/>
                      <a:r>
                        <a:rPr lang="es-419" sz="1000" b="1" dirty="0"/>
                        <a:t>Variable</a:t>
                      </a:r>
                      <a:r>
                        <a:rPr lang="es-419" sz="1000" b="1" baseline="0" dirty="0"/>
                        <a:t> 2</a:t>
                      </a:r>
                      <a:endParaRPr lang="es-419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s-MX" sz="1000" b="1" baseline="0" dirty="0"/>
                        <a:t>Instrumentos: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116652"/>
                  </a:ext>
                </a:extLst>
              </a:tr>
              <a:tr h="1149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MX" sz="1000" baseline="0"/>
                        <a:t>Cuestionario de preguntas para entrevistas</a:t>
                      </a:r>
                      <a:endParaRPr lang="es-MX" sz="1000" baseline="0" dirty="0"/>
                    </a:p>
                    <a:p>
                      <a:pPr marL="285750" lvl="0" indent="-285750">
                        <a:buFontTx/>
                        <a:buChar char="-"/>
                      </a:pPr>
                      <a:r>
                        <a:rPr lang="es-MX" sz="1000" baseline="0"/>
                        <a:t>Formulario de preguntas para encuestas.</a:t>
                      </a:r>
                      <a:endParaRPr lang="es-MX" sz="1000" baseline="0" dirty="0"/>
                    </a:p>
                    <a:p>
                      <a:pPr marL="285750" lvl="0" indent="-285750">
                        <a:buFontTx/>
                        <a:buChar char="-"/>
                      </a:pPr>
                      <a:endParaRPr lang="es-MX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05952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endParaRPr lang="es-419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993486"/>
                  </a:ext>
                </a:extLst>
              </a:tr>
              <a:tr h="879357">
                <a:tc vMerge="1"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419" sz="1000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3. Describir</a:t>
                      </a:r>
                      <a:r>
                        <a:rPr lang="es-MX" sz="1000" baseline="0" dirty="0"/>
                        <a:t> los cambios en la forma de </a:t>
                      </a:r>
                      <a:r>
                        <a:rPr lang="es-419" sz="1000" baseline="0" dirty="0"/>
                        <a:t>realizar la labor periodista con las nuevas narrativas híbridas</a:t>
                      </a:r>
                      <a:endParaRPr lang="es-419" sz="1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868311"/>
                  </a:ext>
                </a:extLst>
              </a:tr>
              <a:tr h="879357">
                <a:tc>
                  <a:txBody>
                    <a:bodyPr/>
                    <a:lstStyle/>
                    <a:p>
                      <a:pPr algn="ctr"/>
                      <a:r>
                        <a:rPr lang="es-419" sz="1000" b="1" dirty="0" smtClean="0"/>
                        <a:t>Posibles fuentes de información:</a:t>
                      </a:r>
                      <a:endParaRPr lang="es-419" sz="1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r>
                        <a:rPr lang="es-419" sz="1000" dirty="0" smtClean="0"/>
                        <a:t>(Copiar y pegar referencias de sus posibles fuentes de información que utilizará en su marco teórico)</a:t>
                      </a:r>
                      <a:endParaRPr lang="es-419" sz="1000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419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 sz="10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lvl="0" indent="-285750">
                        <a:buFontTx/>
                        <a:buChar char="-"/>
                      </a:pPr>
                      <a:endParaRPr lang="es-MX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918596"/>
                  </a:ext>
                </a:extLst>
              </a:tr>
            </a:tbl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2704011" y="287385"/>
            <a:ext cx="696250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2400" dirty="0"/>
              <a:t>Matriz de consistencia metodológica </a:t>
            </a:r>
            <a:endParaRPr lang="es-419" sz="2400" dirty="0"/>
          </a:p>
        </p:txBody>
      </p:sp>
      <p:sp>
        <p:nvSpPr>
          <p:cNvPr id="6" name="CuadroTexto 5"/>
          <p:cNvSpPr txBox="1"/>
          <p:nvPr/>
        </p:nvSpPr>
        <p:spPr>
          <a:xfrm>
            <a:off x="268015" y="709861"/>
            <a:ext cx="1163495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1200" dirty="0"/>
              <a:t>Una Matriz de Consistencia (MC): Es un cuadro horizontal, conformado por columnas y filas, que consiste en presentar y resumir en forma adecuada, panorámica y sucinta los elementos básicos del proyecto de investigación, para comprender y evaluar la coherencia y conexión lógica entre el problema, los objetivos, la hipótesis, las variables y metodología en la investigación a realizar. Esta es la primera parte, se añadirá más información de acuerdo al avance del artículo científico.</a:t>
            </a:r>
            <a:endParaRPr lang="es-419" sz="1100" dirty="0"/>
          </a:p>
        </p:txBody>
      </p:sp>
    </p:spTree>
    <p:extLst>
      <p:ext uri="{BB962C8B-B14F-4D97-AF65-F5344CB8AC3E}">
        <p14:creationId xmlns:p14="http://schemas.microsoft.com/office/powerpoint/2010/main" val="344406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21F483A63D5A4CBDDD0537FE39855C" ma:contentTypeVersion="12" ma:contentTypeDescription="Crear nuevo documento." ma:contentTypeScope="" ma:versionID="8bc530316e38bdb0116a29d76ba339ed">
  <xsd:schema xmlns:xsd="http://www.w3.org/2001/XMLSchema" xmlns:xs="http://www.w3.org/2001/XMLSchema" xmlns:p="http://schemas.microsoft.com/office/2006/metadata/properties" xmlns:ns2="3fcda13f-2903-41b7-b192-baf7b356d0a8" xmlns:ns3="17a9adf4-9a1b-4240-81a0-63b7c14ff34a" targetNamespace="http://schemas.microsoft.com/office/2006/metadata/properties" ma:root="true" ma:fieldsID="5292c3c555279397b9c86888dfda3f07" ns2:_="" ns3:_="">
    <xsd:import namespace="3fcda13f-2903-41b7-b192-baf7b356d0a8"/>
    <xsd:import namespace="17a9adf4-9a1b-4240-81a0-63b7c14ff34a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cda13f-2903-41b7-b192-baf7b356d0a8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lcf76f155ced4ddcb4097134ff3c332f" ma:index="10" nillable="true" ma:taxonomy="true" ma:internalName="lcf76f155ced4ddcb4097134ff3c332f" ma:taxonomyFieldName="MediaServiceImageTags" ma:displayName="Etiquetas de imagen" ma:readOnly="false" ma:fieldId="{5cf76f15-5ced-4ddc-b409-7134ff3c332f}" ma:taxonomyMulti="true" ma:sspId="cc15657f-a093-468e-8e7b-ed2f25f398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a9adf4-9a1b-4240-81a0-63b7c14ff34a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hidden="true" ma:list="{1dfcfe75-9357-462c-965f-c5d7f57cbbf4}" ma:internalName="TaxCatchAll" ma:showField="CatchAllData" ma:web="17a9adf4-9a1b-4240-81a0-63b7c14ff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a9adf4-9a1b-4240-81a0-63b7c14ff34a" xsi:nil="true"/>
    <lcf76f155ced4ddcb4097134ff3c332f xmlns="3fcda13f-2903-41b7-b192-baf7b356d0a8">
      <Terms xmlns="http://schemas.microsoft.com/office/infopath/2007/PartnerControls"/>
    </lcf76f155ced4ddcb4097134ff3c332f>
    <ReferenceId xmlns="3fcda13f-2903-41b7-b192-baf7b356d0a8" xsi:nil="true"/>
  </documentManagement>
</p:properties>
</file>

<file path=customXml/itemProps1.xml><?xml version="1.0" encoding="utf-8"?>
<ds:datastoreItem xmlns:ds="http://schemas.openxmlformats.org/officeDocument/2006/customXml" ds:itemID="{4D848ACD-9EEA-473C-838F-353F7095EF0B}"/>
</file>

<file path=customXml/itemProps2.xml><?xml version="1.0" encoding="utf-8"?>
<ds:datastoreItem xmlns:ds="http://schemas.openxmlformats.org/officeDocument/2006/customXml" ds:itemID="{3BE63E02-854B-46AC-9218-5DA83E905785}"/>
</file>

<file path=customXml/itemProps3.xml><?xml version="1.0" encoding="utf-8"?>
<ds:datastoreItem xmlns:ds="http://schemas.openxmlformats.org/officeDocument/2006/customXml" ds:itemID="{AC06836B-6982-4B32-92E1-17B8EBE73CCB}"/>
</file>

<file path=docProps/app.xml><?xml version="1.0" encoding="utf-8"?>
<Properties xmlns="http://schemas.openxmlformats.org/officeDocument/2006/extended-properties" xmlns:vt="http://schemas.openxmlformats.org/officeDocument/2006/docPropsVTypes">
  <TotalTime>13798</TotalTime>
  <Words>276</Words>
  <Application>Microsoft Office PowerPoint</Application>
  <PresentationFormat>Panorámica</PresentationFormat>
  <Paragraphs>34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Jhonnie Classic</dc:creator>
  <cp:lastModifiedBy>ECOMUNDO</cp:lastModifiedBy>
  <cp:revision>58</cp:revision>
  <dcterms:created xsi:type="dcterms:W3CDTF">2021-06-07T16:19:07Z</dcterms:created>
  <dcterms:modified xsi:type="dcterms:W3CDTF">2026-06-30T14:46:09Z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0x010100FF21F483A63D5A4CBDDD0537FE39855C</vt:lpwstr>
  </property>
</Properties>
</file>